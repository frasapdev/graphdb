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33F"/>
                </a:solidFill>
                <a:latin typeface="Arial"/>
              </a:defRPr>
            </a:pPr>
            <a:r>
              <a:rPr lang="it-IT" sz="1300" b="0" i="0" u="none" strike="noStrike">
                <a:solidFill>
                  <a:srgbClr val="10233F"/>
                </a:solidFill>
                <a:latin typeface="Arial"/>
              </a:rPr>
              <a:t>Tempo di caricamento (secondi) per scala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 (load)</c:v>
                </c:pt>
              </c:strCache>
            </c:strRef>
          </c:tx>
          <c:spPr>
            <a:solidFill>
              <a:srgbClr val="3367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
(completo)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4.0999999999999996</c:v>
                </c:pt>
                <c:pt idx="1">
                  <c:v>4.16</c:v>
                </c:pt>
                <c:pt idx="2">
                  <c:v>5.4</c:v>
                </c:pt>
                <c:pt idx="3">
                  <c:v>11.94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3B-4955-AB9A-D40F6977BA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Neo4j (load)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
(completo)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5.83</c:v>
                </c:pt>
                <c:pt idx="1">
                  <c:v>8.5299999999999994</c:v>
                </c:pt>
                <c:pt idx="2">
                  <c:v>19.149999999999999</c:v>
                </c:pt>
                <c:pt idx="3">
                  <c:v>179.6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3B-4955-AB9A-D40F6977BA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000000"/>
                    </a:solidFill>
                    <a:latin typeface="Arial"/>
                  </a:rPr>
                  <a:t>secondi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Neo4j più veloce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Load</c:v>
                </c:pt>
                <c:pt idx="1">
                  <c:v>Grado medio</c:v>
                </c:pt>
                <c:pt idx="2">
                  <c:v>Clustering</c:v>
                </c:pt>
                <c:pt idx="3">
                  <c:v>PageRank</c:v>
                </c:pt>
                <c:pt idx="4">
                  <c:v>Assortatività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17.7</c:v>
                </c:pt>
                <c:pt idx="2">
                  <c:v>102.4</c:v>
                </c:pt>
                <c:pt idx="3">
                  <c:v>63.7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2F-4E64-BBC5-F20EE86CA4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PostgreSQL più veloce</c:v>
                </c:pt>
              </c:strCache>
            </c:strRef>
          </c:tx>
          <c:spPr>
            <a:solidFill>
              <a:srgbClr val="336791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Load</c:v>
                </c:pt>
                <c:pt idx="1">
                  <c:v>Grado medio</c:v>
                </c:pt>
                <c:pt idx="2">
                  <c:v>Clustering</c:v>
                </c:pt>
                <c:pt idx="3">
                  <c:v>PageRank</c:v>
                </c:pt>
                <c:pt idx="4">
                  <c:v>Assortatività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2F-4E64-BBC5-F20EE86CA4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82"/>
                    </a:solidFill>
                    <a:latin typeface="Arial"/>
                  </a:defRPr>
                </a:pPr>
                <a:r>
                  <a:rPr lang="it-IT" sz="1050" b="0" i="0" u="none" strike="noStrike">
                    <a:solidFill>
                      <a:srgbClr val="5B6B82"/>
                    </a:solidFill>
                    <a:latin typeface="Arial"/>
                  </a:rPr>
                  <a:t>← PostgreSQL più veloce   |   Neo4j più veloce →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33F"/>
                </a:solidFill>
                <a:latin typeface="Arial"/>
              </a:defRPr>
            </a:pPr>
            <a:r>
              <a:rPr lang="it-IT" sz="1300" b="0" i="0" u="none" strike="noStrike">
                <a:solidFill>
                  <a:srgbClr val="10233F"/>
                </a:solidFill>
                <a:latin typeface="Arial"/>
              </a:rPr>
              <a:t>Tempo di calcolo (secondi) per scala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solidFill>
              <a:srgbClr val="3367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1.7000000000000001E-2</c:v>
                </c:pt>
                <c:pt idx="1">
                  <c:v>1.946</c:v>
                </c:pt>
                <c:pt idx="2">
                  <c:v>45.093000000000004</c:v>
                </c:pt>
                <c:pt idx="3">
                  <c:v>2423.6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3-4BC1-9134-9C3D3C9078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Neo4j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6.9000000000000006E-2</c:v>
                </c:pt>
                <c:pt idx="1">
                  <c:v>9.0999999999999998E-2</c:v>
                </c:pt>
                <c:pt idx="2">
                  <c:v>0.90800000000000003</c:v>
                </c:pt>
                <c:pt idx="3">
                  <c:v>23.672000000000001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D3-4BC1-9134-9C3D3C9078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000000"/>
                    </a:solidFill>
                    <a:latin typeface="Arial"/>
                  </a:rPr>
                  <a:t>secondi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33F"/>
                </a:solidFill>
                <a:latin typeface="Arial"/>
              </a:defRPr>
            </a:pPr>
            <a:r>
              <a:rPr lang="it-IT" sz="1300" b="0" i="0" u="none" strike="noStrike">
                <a:solidFill>
                  <a:srgbClr val="10233F"/>
                </a:solidFill>
                <a:latin typeface="Arial"/>
              </a:rPr>
              <a:t>Tempo di calcolo (secondi) per scala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ln w="38100" cap="flat">
              <a:solidFill>
                <a:srgbClr val="33679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336791"/>
              </a:solidFill>
              <a:ln w="9525" cap="flat">
                <a:solidFill>
                  <a:srgbClr val="33679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0.14699999999999999</c:v>
                </c:pt>
                <c:pt idx="1">
                  <c:v>1.444</c:v>
                </c:pt>
                <c:pt idx="2">
                  <c:v>6.8019999999999996</c:v>
                </c:pt>
                <c:pt idx="3">
                  <c:v>68.98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9F-48A8-AB63-5B2D611685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Neo4j</c:v>
                </c:pt>
              </c:strCache>
            </c:strRef>
          </c:tx>
          <c:spPr>
            <a:ln w="381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4.1000000000000002E-2</c:v>
                </c:pt>
                <c:pt idx="1">
                  <c:v>0.06</c:v>
                </c:pt>
                <c:pt idx="2">
                  <c:v>0.20699999999999999</c:v>
                </c:pt>
                <c:pt idx="3">
                  <c:v>1.083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9F-48A8-AB63-5B2D611685C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000000"/>
                    </a:solidFill>
                    <a:latin typeface="Arial"/>
                  </a:rPr>
                  <a:t>secondi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33F"/>
                </a:solidFill>
                <a:latin typeface="Arial"/>
              </a:defRPr>
            </a:pPr>
            <a:r>
              <a:rPr lang="it-IT" sz="1300" b="0" i="0" u="none" strike="noStrike">
                <a:solidFill>
                  <a:srgbClr val="10233F"/>
                </a:solidFill>
                <a:latin typeface="Arial"/>
              </a:rPr>
              <a:t>Tempo di caricamento (secondi) per scala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Cassandra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4.3600000000000003</c:v>
                </c:pt>
                <c:pt idx="1">
                  <c:v>31.76</c:v>
                </c:pt>
                <c:pt idx="2">
                  <c:v>171.8</c:v>
                </c:pt>
                <c:pt idx="3">
                  <c:v>1730.8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05-464C-ABAB-36FBAD6E8A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CockroachDB</c:v>
                </c:pt>
              </c:strCache>
            </c:strRef>
          </c:tx>
          <c:spPr>
            <a:solidFill>
              <a:srgbClr val="155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2.5</c:v>
                </c:pt>
                <c:pt idx="1">
                  <c:v>8.85</c:v>
                </c:pt>
                <c:pt idx="2">
                  <c:v>75.790000000000006</c:v>
                </c:pt>
                <c:pt idx="3">
                  <c:v>580.03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05-464C-ABAB-36FBAD6E8A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it-IT" sz="1000" b="0" i="0" u="none" strike="noStrike">
                    <a:solidFill>
                      <a:srgbClr val="000000"/>
                    </a:solidFill>
                    <a:latin typeface="Arial"/>
                  </a:rPr>
                  <a:t>secondi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33F"/>
                </a:solidFill>
                <a:latin typeface="Arial"/>
              </a:defRPr>
            </a:pPr>
            <a:r>
              <a:rPr lang="it-IT" sz="1300" b="0" i="0" u="none" strike="noStrike">
                <a:solidFill>
                  <a:srgbClr val="10233F"/>
                </a:solidFill>
                <a:latin typeface="Arial"/>
              </a:rPr>
              <a:t>Lettura 1 partizione (ms) — piatta!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Latenza locale (ms)</c:v>
                </c:pt>
              </c:strCache>
            </c:strRef>
          </c:tx>
          <c:spPr>
            <a:ln w="38100" cap="flat">
              <a:solidFill>
                <a:srgbClr val="E07B39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2.92</c:v>
                </c:pt>
                <c:pt idx="1">
                  <c:v>2.5299999999999998</c:v>
                </c:pt>
                <c:pt idx="2">
                  <c:v>2.0499999999999998</c:v>
                </c:pt>
                <c:pt idx="3">
                  <c:v>2.67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E2-4E04-AFDD-574F4C46C22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33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0233F"/>
                </a:solidFill>
                <a:latin typeface="Arial"/>
              </a:rPr>
              <a:t>Full token-range scan (s) — esplode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Latenza globale (s)</c:v>
                </c:pt>
              </c:strCache>
            </c:strRef>
          </c:tx>
          <c:spPr>
            <a:ln w="38100" cap="flat">
              <a:solidFill>
                <a:srgbClr val="155E7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55E75"/>
              </a:solidFill>
              <a:ln w="9525" cap="flat">
                <a:solidFill>
                  <a:srgbClr val="155E7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150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5.000</c:v>
                </c:pt>
                <c:pt idx="1">
                  <c:v>20.000</c:v>
                </c:pt>
                <c:pt idx="2">
                  <c:v>50.000</c:v>
                </c:pt>
                <c:pt idx="3">
                  <c:v>168.114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0.183</c:v>
                </c:pt>
                <c:pt idx="1">
                  <c:v>0.66300000000000003</c:v>
                </c:pt>
                <c:pt idx="2">
                  <c:v>3.09</c:v>
                </c:pt>
                <c:pt idx="3">
                  <c:v>52.838000000000001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1-46C9-9022-3A85EFEC08A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059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Buongiorno/buonasera. Presento oggi il progetto di benchmark architetturale tra database relazionali, a grafo e distribuiti, sviluppato sul dataset Twitch Gamers Network. Durata prevista: circa 20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relazione si divide in due parti: il confronto centralizzato PostgreSQL/Neo4j, e il confronto distribuito Cassandra/CockroachDB sul teorema CAP. Le tratterò in sequenza.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chiave da anticipare: l'obiettivo non è dire chi vince, ma spiegare il meccanismo architetturale dietro ogni risultato, così le conclusioni si generalizzano ad altri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reale di Stanford SNAP: 168 mila nodi, 6,8 milioni di archi, un solo componente connesso. Ho usato 4 scale per osservare l'evoluzione dei tempi, non solo un singolo punto.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PostgreSQL: la scelta chiave è duplicare ogni arco per evitare un OR che romperebbe l'indice B-tree. Costa storage doppio ma rende il vicinato una range-scan.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Neo4j: index-free adjacency, ogni nodo ha un puntatore diretto alle sue relazioni. GDS proietta il grafo in RAM in formato CSR per gli algoritmi complessi.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Riepilogo delle scelte di modellazione a confronto — utile per capire da dove nascono le differenze di performance che vedremo tra poco.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Metodologia: ambiente Docker condiviso, warmup più mediana su 2 misure, 4 scale, validazione con NetworkX come arbitro indipendente.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6 metriche e la loro complessità asintotica — nota soprattutto la clustering O(somma dei gradi al quadrato), la più pesante, e la betweenness che in SQL puro resta solo un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caricamento: Postgres vince sempre grazie a COPY, che bypassa il parser SQL. Neo4j paga la costruzione dei puntatori durante l'inserimento — è il prezzo che si ripaga poi in lettura.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grafico di sintesi della parte 1: barre verdi = quante volte Neo4j è più veloce, arancioni = quante volte vince Postgres. Notate che l'assortatività è l'unica metrica dove vince il modello relazionale.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clustering coefficient è la metrica più drammatica: 102 volte più lenta su Postgres sul dataset completo. Il grado medio del campione cresce con la scala, quindi la complessità quadratica esplode.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PageRank mostra invece un divario che si allarga gradualmente con la scala: da 3,6x a 64x. Ogni iterazione SQL materializza una tabella temporanea; GDS lavora su vettori densi in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Tabella riassuntiva del perché: index-free adjacency vince sulla topologia, il modello relazionale vince sugli attributi. Questa è la lezione trasferibile ad altri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limitazioni da dichiarare onestamente: hardware condiviso, configurazioni di default, campionamento non rappresentativo, betweenness solo proxy su Postgres, nessun workload OLTP, licenza GDS.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Passiamo ora alla parte 2: l'ambito distribuito. Qui il focus è il teorema CAP: cosa succede quando i dati vivono su più nodi e una rete può rallentare o un nodo può guastarsi. Questa volta i dati sono stati raccolti su VM con rete reale, non più loopback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Cassandra è AP: consistenza tunabile per query, nessun leader, gossip. CockroachDB è CP: sempre serializable, consenso Raft con un leader per range. Modello dati: wide-column denormalizzato contro relazionale classico.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caricamento a 4 scale: CockroachDB carica sistematicamente circa 3 volte più veloce di Cassandra, che deve replicare 3 volte ogni riga per il fattore di replica.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probabilmente il grafico più importante della parte 2: la latenza di lettura di una singola partizione resta piatta, 2-3 millisecondi, indipendentemente dalla scala del dataset. Lo scan completo invece esplode da 0,18 secondi a quasi 53 secondi. È la dimostrazione empirica diretta del principio cassandriano 'modella le query, non i dati'.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CockroachDB mostra la sua intelligenza solo sul dataset completo: riconosce che una query puntuale può essere risolta da un solo nodo (distribution local) solo quando la tabella è davvero frammentata su più range. Sui campioni piccoli tutto sta in un range solo. A destra, il comportamento sotto guasto: Cassandra tollera 1 nodo su 3 con CL basso, CockroachDB tollera fino a 2 nodi su 3 grazie al quorum 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di consistenza: senza serializzabilità, un lost update passa inosservato e il saldo finale è sbagliato senza nessun errore. CockroachDB e Postgres serializable, invece, rilevano il conflitto e ritentano la transazione fallita.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 finale: non esiste il database migliore in assoluto. Ogni sistema ottimizza per un pattern di accesso diverso. La scelta è una scelta di requisiti applicativi: quale errore posso permettermi, un dato vecchio o nessun dato?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Grazie per l'attenzione, sono a disposizione per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DEI DATI — RELAZIONE DI PROGETTO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confronto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relazionale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distribuito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vs Neo4j sul modello relazionale e a grafo  —  Cassandra (AP) vs CockroachDB (CP) nel mondo distribuito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822960" y="47731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168.114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4709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3154680" y="47731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5468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4709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5486400" y="47731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4709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7818120" y="47731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confrontati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 Gamers Network (Stanford SNAP)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vedremo oggi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691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 — Centralizzato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005840" y="233172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e il dataset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Modellazione: relazionale vs grafo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 le 6 metriche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e scalabilità (4 scale)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Spiegazione architetturale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Limitazioni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08192" y="150876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8"/>
          <p:cNvSpPr/>
          <p:nvPr/>
        </p:nvSpPr>
        <p:spPr>
          <a:xfrm>
            <a:off x="6428232" y="1828800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933" y="194950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68312" y="1691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 — Distribuito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565392" y="233172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teorema CAP in pratica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(AP) vs CockroachDB (CP)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a 4 scale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 e fault tolerance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trade-off finali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“chi è più veloce”, ma “perché”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non è stabilire quale database sia il migliore in assoluto, ma spiegare, metrica per metrica, quale meccanismo architetturale produce ciascun risultato — così che la conclusione sia trasferibile ad altri dataset e workload.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6492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problema, due filosofie opposte: relazionale vs grafo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problema, due filosofie distribuite opposte: AP vs CP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risultato è </a:t>
            </a:r>
            <a:r>
              <a:rPr lang="en-US" sz="15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spiegato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52360" y="155448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10233F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6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D9820B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074" y="19604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5820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Rigore sperimentale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0" y="2606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warmup scartato + 2 misure, si riporta la mediana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scale: 5.000 · 20.000 · 50.000 · 168.114 nodi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incrociata con NetworkX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hardware, stessa run, configurazioni di default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Twitch Gamers Network (Stanford SNAP)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grafo sociale reale: canali Twitch e relazioni di follow reciproco. Non diretto, una sola componente connessa, nessun attributo mancante.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5"/>
          <p:cNvSpPr/>
          <p:nvPr/>
        </p:nvSpPr>
        <p:spPr>
          <a:xfrm>
            <a:off x="685800" y="239572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6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168.114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3584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(canali)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3429000" y="239572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6.797.557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429000" y="3584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non diretti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Text 11"/>
          <p:cNvSpPr/>
          <p:nvPr/>
        </p:nvSpPr>
        <p:spPr>
          <a:xfrm>
            <a:off x="6172200" y="239572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80,9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172200" y="3584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medio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2286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Text 14"/>
          <p:cNvSpPr/>
          <p:nvPr/>
        </p:nvSpPr>
        <p:spPr>
          <a:xfrm>
            <a:off x="8915400" y="239572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5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35.279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8915400" y="3584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massimo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Shape 18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D9820B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13892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17320" y="493776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Campionamento a 4 scale: i sottocampioni (5.000 / 20.000 / 50.000 nodi) prendono i primi N id e gli archi tra loro — sono sottografi più sparsi del grafo reale, non un suo ridimensionamento proporzionale.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MODELLAZIONE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— il vicinato come range scan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6400800" cy="4480560"/>
          </a:xfrm>
          <a:prstGeom prst="roundRect">
            <a:avLst>
              <a:gd name="adj" fmla="val 2041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nodes(id, views, mature, life_time, dead_account, language, affiliate)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edges(src, dst)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problema: </a:t>
            </a: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non diretto, ma WHERE src=X OR dst=X spezza l'uso del B-tree.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5760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soluzione: archi duplicati. </a:t>
            </a: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arco inserito due volte, (a,b) e (b,a). "Vicini di X" = WHERE src=X → una singola range-scan contigua su idx_edges_src.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4572000"/>
            <a:ext cx="5760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storage raddoppiato (~13,6M righe). È il prezzo pagato per ottenere ciò che Neo4j offre nativamente.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78040" y="150876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10233F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Text 9"/>
          <p:cNvSpPr/>
          <p:nvPr/>
        </p:nvSpPr>
        <p:spPr>
          <a:xfrm>
            <a:off x="7452360" y="16916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indici, 4 ruoli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52360" y="2240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2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idx_edges_src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52360" y="2532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vicinato: grado, PageRank, clustering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52360" y="3136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2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idx_edges_dst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52360" y="3429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PageRank (chi punta a X)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52360" y="40325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2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idx_edges_src_dst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52360" y="43251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"esiste l'arco X→Y?" — clustering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52360" y="4928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82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idx_nodes_language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452360" y="522122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lingua — assortatività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MODELLAZIONE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— la topologia come puntatori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6400800" cy="4480560"/>
          </a:xfrm>
          <a:prstGeom prst="roundRect">
            <a:avLst>
              <a:gd name="adj" fmla="val 2041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(:Channel {id, views, language, ...})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-[:FOLLOWS]-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Index-free adjacency: </a:t>
            </a: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nodo memorizza il puntatore alla propria lista di relazioni; ogni relazione punta ai due nodi e alle relazioni precedente/successiva.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"Vicini di X" </a:t>
            </a: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seguire puntatori in memoria. Nessun indice, nessuna ricerca: costo O(grado(X)).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44805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relazioni sono create UNA sola volta per coppia: ogni relazione è attraversabile in entrambe le direzioni a costo identico — nessuna duplicazione necessaria.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78040" y="150876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10233F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9"/>
          <p:cNvSpPr/>
          <p:nvPr/>
        </p:nvSpPr>
        <p:spPr>
          <a:xfrm>
            <a:off x="7452360" y="1737360"/>
            <a:ext cx="502920" cy="502920"/>
          </a:xfrm>
          <a:prstGeom prst="ellipse">
            <a:avLst/>
          </a:prstGeom>
          <a:solidFill>
            <a:srgbClr val="D9820B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061" y="185806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Data Science (GDS)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452360" y="2423160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 metriche complesse (degree, clustering, PageRank, betweenness), GDS proietta il grafo in una struttura Compressed Sparse Row (CSR) in RAM — parallela e cache-friendly.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l'equivalente Neo4j del "caricamento in RAM" di NetworkX, ma specializzato e parallelizzato: qui si gioca gran parte del vantaggio nei risultati che seguono.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MODELLAZIONE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filosofie a confronto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29768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 duplicati?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 (2×)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(1×, bidirezionale nativo)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"Vicini di X"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scan su B-tree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Pointer-chasing, O(grado)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Aggregazione globale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(GROUP BY, avg...)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Cypher / GDS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archi (168k nodi)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~13,6M righe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~6,8M relazioni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Indici espliciti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su edges + 1 su nodes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constraint + 1 indice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METODOLOGIA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abbiamo misurato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56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condiviso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68680" y="2468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i DB in container Docker sullo stesso host (16 GB RAM), configurazioni di default — confronto "out of the box", non ottimizzato.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08192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8"/>
          <p:cNvSpPr/>
          <p:nvPr/>
        </p:nvSpPr>
        <p:spPr>
          <a:xfrm>
            <a:off x="6382512" y="1874520"/>
            <a:ext cx="502920" cy="502920"/>
          </a:xfrm>
          <a:prstGeom prst="ellipse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3" y="199522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68312" y="1856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Warmup + mediana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428232" y="2468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warmup scartato, poi 2 misurazioni: si riporta la mediana. Riduce l'effetto di cache fredda e rumore di sistema.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2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28122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142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scale progressive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68680" y="4754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· 20.000 · 50.000 nodi (campione deterministico) e dataset completo (168.114 nodi) — per osservare non solo chi vince, ma come cambia il vantaggio.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08192" y="3886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2" name="Shape 16"/>
          <p:cNvSpPr/>
          <p:nvPr/>
        </p:nvSpPr>
        <p:spPr>
          <a:xfrm>
            <a:off x="6382512" y="4160520"/>
            <a:ext cx="502920" cy="502920"/>
          </a:xfrm>
          <a:prstGeom prst="ellipse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213" y="4281221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68312" y="4142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Validazione incrociata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6428232" y="4754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metrica è confrontata con NetworkX calcolato sullo stesso sottografo, come riferimento indipendente dai due DB.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METODOLOGIA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 metriche, sei complessità diverse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526277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Complessità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Grado 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gds.degree (CSR)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Clustering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O(Σ deg²)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self-join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gds.triangleCount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Betweenness (camp.)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O(s·E)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 ricorsiva (proxy)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gds.betweenness (Brandes)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PageRank (10 it.)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O(iter·E)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iter. SQL + temp 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gds.pageRank (CSR)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Assortatività lingua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JOIN + GROUP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 Cypher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Load + indicizzazione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+ CREATE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UNWIND a batch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RISULTATI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Caricamento: chi carica più in fretta?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48640" y="1554480"/>
          <a:ext cx="66751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1554480"/>
            <a:ext cx="4434840" cy="4434840"/>
          </a:xfrm>
          <a:prstGeom prst="roundRect">
            <a:avLst>
              <a:gd name="adj" fmla="val 2062"/>
            </a:avLst>
          </a:prstGeom>
          <a:solidFill>
            <a:srgbClr val="10233F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4"/>
          <p:cNvSpPr/>
          <p:nvPr/>
        </p:nvSpPr>
        <p:spPr>
          <a:xfrm>
            <a:off x="7452360" y="1783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vince sempre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452360" y="2331720"/>
            <a:ext cx="3886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FROM STDIN bypassa il parser SQL riga per riga: è il bulk loader più veloce disponibile. Gli indici si costruiscono dopo, con un sort sequenziale.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paga per ogni arco un doppio MATCH più la costruzione dei puntatori bidirezionali durante l'inserimento — il costo che l'index-free adjacency "recupera" in lettura.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dataset completo: 12s vs 180s (15×).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RISULTATI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vince, e di quanto (dataset completo)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32434614"/>
              </p:ext>
            </p:extLst>
          </p:nvPr>
        </p:nvGraphicFramePr>
        <p:xfrm>
          <a:off x="551383" y="1977174"/>
          <a:ext cx="1109167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SCALABILITÀ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coefficient: la metrica che spacca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48640" y="155448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15544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4"/>
          <p:cNvSpPr/>
          <p:nvPr/>
        </p:nvSpPr>
        <p:spPr>
          <a:xfrm>
            <a:off x="7498080" y="1664208"/>
            <a:ext cx="3977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102×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498080" y="32186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lento Postgres sul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60920" y="3840480"/>
            <a:ext cx="4251960" cy="2148840"/>
          </a:xfrm>
          <a:prstGeom prst="roundRect">
            <a:avLst>
              <a:gd name="adj" fmla="val 4255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7"/>
          <p:cNvSpPr/>
          <p:nvPr/>
        </p:nvSpPr>
        <p:spPr>
          <a:xfrm>
            <a:off x="7589520" y="397764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grado medio del campione cresce insieme a N (2,25 → 80,9): la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complessità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 esplodere Postgres, mentre Neo4j resta cache-friendly su CSR in RAM.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SCALABILITÀ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PageRank: divario che si allarga con la scala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48640" y="155448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15544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4"/>
          <p:cNvSpPr/>
          <p:nvPr/>
        </p:nvSpPr>
        <p:spPr>
          <a:xfrm>
            <a:off x="7498080" y="1664208"/>
            <a:ext cx="3977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3,6× → 64×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498080" y="32186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vantaggio Neo4j cresce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5k ai 168k nodi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60920" y="3840480"/>
            <a:ext cx="4251960" cy="2148840"/>
          </a:xfrm>
          <a:prstGeom prst="roundRect">
            <a:avLst>
              <a:gd name="adj" fmla="val 4255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7"/>
          <p:cNvSpPr/>
          <p:nvPr/>
        </p:nvSpPr>
        <p:spPr>
          <a:xfrm>
            <a:off x="7589520" y="397764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iterazione SQL materializza una tabella temporanea su disco; GDS aggiorna vettori densi in RAM: nessuna materializzazione.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PERCHÉ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Spiegazione architetturale, in una tabella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bypassa il parser; indici costruiti dopo con sort sequenziale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 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 = differenza di offset in un array CSR → 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Pointer-chase in RAM vs milioni di B-tree lookup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Neo4j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Brandes in SQL puro non è praticabile: nessuno stato di visita nativo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Vettori densi in RAM vs materializzazione ripetuta di tabelle temp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Assortatività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Hash-join relazionale classico: il workload nativo di 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ONESTÀ SCIENTIFICA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Limitazioni del benchmark centralizzato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49240" cy="1399032"/>
          </a:xfrm>
          <a:prstGeom prst="roundRect">
            <a:avLst>
              <a:gd name="adj" fmla="val 5229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822960" y="170992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condiviso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due DB competono per CPU/RAM/disco sullo stesso host — mitigato con mediana su 2 misure + warmup.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08192" y="1600200"/>
            <a:ext cx="5349240" cy="1399032"/>
          </a:xfrm>
          <a:prstGeom prst="roundRect">
            <a:avLst>
              <a:gd name="adj" fmla="val 5229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Text 7"/>
          <p:cNvSpPr/>
          <p:nvPr/>
        </p:nvSpPr>
        <p:spPr>
          <a:xfrm>
            <a:off x="6382512" y="170992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Configurazioni di default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82512" y="2057400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tuning specifico per il workload: confronto "out of the box“.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63824"/>
            <a:ext cx="5349240" cy="1399032"/>
          </a:xfrm>
          <a:prstGeom prst="roundRect">
            <a:avLst>
              <a:gd name="adj" fmla="val 5229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822960" y="32735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Campionamento non rappresentativo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3621024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sottografi sono più sparsi del grafo reale; solo tempi e rapporti sono confrontabili tra scale.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08192" y="3163824"/>
            <a:ext cx="5349240" cy="1399032"/>
          </a:xfrm>
          <a:prstGeom prst="roundRect">
            <a:avLst>
              <a:gd name="adj" fmla="val 5229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6" name="Text 13"/>
          <p:cNvSpPr/>
          <p:nvPr/>
        </p:nvSpPr>
        <p:spPr>
          <a:xfrm>
            <a:off x="6382512" y="32735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su Postgres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82512" y="3621024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proxy di costo (distanza media via CTE ricorsiva): limite architetturale di SQL, non dell'implementazione.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727448"/>
            <a:ext cx="5349240" cy="1399032"/>
          </a:xfrm>
          <a:prstGeom prst="roundRect">
            <a:avLst>
              <a:gd name="adj" fmla="val 5229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9" name="Text 16"/>
          <p:cNvSpPr/>
          <p:nvPr/>
        </p:nvSpPr>
        <p:spPr>
          <a:xfrm>
            <a:off x="822960" y="483717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solo OLAP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2960" y="5184648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misura di lookup singolo o scrittura concorrente.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08192" y="4727448"/>
            <a:ext cx="5349240" cy="1399032"/>
          </a:xfrm>
          <a:prstGeom prst="roundRect">
            <a:avLst>
              <a:gd name="adj" fmla="val 5229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2" name="Text 19"/>
          <p:cNvSpPr/>
          <p:nvPr/>
        </p:nvSpPr>
        <p:spPr>
          <a:xfrm>
            <a:off x="6382512" y="483717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GDS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382512" y="5184648"/>
            <a:ext cx="4800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produzione.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023360"/>
            <a:ext cx="5943600" cy="59436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Ambito distribuito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(AP) vs CockroachDB (CP) — cosa succede quando i dati vivono su più nodi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822960" y="4544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 reali (RF=3)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448056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840480" y="4544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4983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448056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6858000" y="4544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2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4983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effettiva, non loopback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ARCHITETTURA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logiche distributive opposte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3832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B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CockroachDB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— disponibilità prioritaria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— consistenza forte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Gossip + hinted handoff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Raft (leader per range)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Tunabile (ONE / QUORUM / 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 SERIALIZABLE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 dati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Wide-column, denormalizzato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Relazionale (SQL)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un nodo cade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dal CL scelto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Ri-elezione se c'è quorum; nessuna risposta se non c'è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Shape 4"/>
          <p:cNvSpPr/>
          <p:nvPr/>
        </p:nvSpPr>
        <p:spPr>
          <a:xfrm>
            <a:off x="777240" y="5285232"/>
            <a:ext cx="502920" cy="502920"/>
          </a:xfrm>
          <a:prstGeom prst="ellipse">
            <a:avLst/>
          </a:prstGeom>
          <a:solidFill>
            <a:srgbClr val="D9820B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05933"/>
            <a:ext cx="261518" cy="261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52120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follows_by_source: la relazione è denormalizzata per query — "chi segue X" è una singola partizione. Su CockroachDB, invece, lo stesso schema relazionale del monolita: è il sistema stesso a distribuire i range via Raft.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RISULTATI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Caricamento a 4 scale (VM, rete reale)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48640" y="155448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15544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4"/>
          <p:cNvSpPr/>
          <p:nvPr/>
        </p:nvSpPr>
        <p:spPr>
          <a:xfrm>
            <a:off x="7498080" y="1664208"/>
            <a:ext cx="39776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5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498080" y="32186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carica ~3 volte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veloce a ogni scala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60920" y="3840480"/>
            <a:ext cx="4251960" cy="2148840"/>
          </a:xfrm>
          <a:prstGeom prst="roundRect">
            <a:avLst>
              <a:gd name="adj" fmla="val 4255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7"/>
          <p:cNvSpPr/>
          <p:nvPr/>
        </p:nvSpPr>
        <p:spPr>
          <a:xfrm>
            <a:off x="7589520" y="397764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scalano meno che linearmente rispetto agli archi (×1.208), ma Cassandra deve replicare 3× ogni riga (RF=3) e gestire hinted handoff durante bulk insert massicci.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IL RISULTATO CHIAVE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"Modella le query, non i dati" — in un grafico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/>
        </p:nvGraphicFramePr>
        <p:xfrm>
          <a:off x="548640" y="1600200"/>
          <a:ext cx="5349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080760" y="1600200"/>
          <a:ext cx="5349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870448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5F8FC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Text 4"/>
          <p:cNvSpPr/>
          <p:nvPr/>
        </p:nvSpPr>
        <p:spPr>
          <a:xfrm>
            <a:off x="731520" y="587044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metrica (Cassandra, CL=QUORUM), due grafici: la partizione singola è invariante alla scala del dataset; lo scan completo no.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INTELLIGENZA DEL PLANNER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CockroachDB impara a essere locale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003251"/>
              </p:ext>
            </p:extLst>
          </p:nvPr>
        </p:nvGraphicFramePr>
        <p:xfrm>
          <a:off x="205740" y="1445133"/>
          <a:ext cx="5349240" cy="1554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source_id = 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(scan globale)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/ 20k / 50k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distribution: 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distribution: 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168.114 (completo)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distribution: local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distribution: 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24612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quando follows è realmente frammentata su più range, il planner riconosce che una query puntuale può essere risolta da un singolo nodo.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460839"/>
              </p:ext>
            </p:extLst>
          </p:nvPr>
        </p:nvGraphicFramePr>
        <p:xfrm>
          <a:off x="5740908" y="1355598"/>
          <a:ext cx="6245352" cy="172593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Nodi attivi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CL=ONE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CL=QUORUM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CL=ALL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CockroachDB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(ri-elezione)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(timeout)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43484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10233F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Shape 6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D9820B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784141"/>
            <a:ext cx="261518" cy="261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457200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(AP): con RF=3 su 3 nodi, ogni nodo ha TUTTE le partizioni — anche l'unico superstite. CL=ONE funziona sempre.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(CP): resta consistente e disponibile finché il quorum Raft (2/3) è raggiungibile, poi rifiuta di rispondere piuttosto che dare un dato non aggiornato.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CONSISTENZA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succede quando due scritture collidono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10233F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90" y="520111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thread, delta +10 / −10 concorrenti su un saldo. Saldo iniziale e atteso: 1000.</a:t>
            </a:r>
            <a:endParaRPr lang="en-US" sz="15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1920240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/ isolamento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(40001)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CockroachDB (sempre SERIALIZABLE)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SERIALIZABLE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READ COMMITTED (default)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lost 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34340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F5F8FC"/>
          </a:solidFill>
          <a:ln/>
          <a:effectLst>
            <a:outerShdw blurRad="101600" dist="38100" dir="5400000" algn="bl" rotWithShape="0">
              <a:srgbClr val="10233F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5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D9820B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69270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480560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controllo di concorrenza serializzabile, la seconda transazione sovrascrive l'effetto della prima in silenzio (lost update) — nessun errore, ma il dato è sbagliato.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e PostgreSQL SERIALIZABLE rilevano la race e forzano il retry: più lento, ma sempre corretto.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D9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esiste il database migliore.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Esiste il database giusto per il workload.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6" name="Shape 4"/>
          <p:cNvSpPr/>
          <p:nvPr/>
        </p:nvSpPr>
        <p:spPr>
          <a:xfrm>
            <a:off x="1851660" y="2788920"/>
            <a:ext cx="548640" cy="548640"/>
          </a:xfrm>
          <a:prstGeom prst="ellipse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34" y="29205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474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3931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 su bulk load e aggregazioni per attributo (join relazionali classici).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11880" y="2514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Shape 8"/>
          <p:cNvSpPr/>
          <p:nvPr/>
        </p:nvSpPr>
        <p:spPr>
          <a:xfrm>
            <a:off x="4640580" y="278892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254" y="29205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474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94760" y="3931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 quando conta la topologia: traversal, percorsi, propagazione — fino a 100× più veloce.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2514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6" name="Shape 12"/>
          <p:cNvSpPr/>
          <p:nvPr/>
        </p:nvSpPr>
        <p:spPr>
          <a:xfrm>
            <a:off x="7429500" y="2788920"/>
            <a:ext cx="548640" cy="548640"/>
          </a:xfrm>
          <a:prstGeom prst="ellipse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174" y="29205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3474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Cassandra (AP)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83680" y="3931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Disponibilità e costo per query prevedibile; il chiamante sceglie il trade-off.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89720" y="25146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1" name="Shape 16"/>
          <p:cNvSpPr/>
          <p:nvPr/>
        </p:nvSpPr>
        <p:spPr>
          <a:xfrm>
            <a:off x="10218420" y="2788920"/>
            <a:ext cx="548640" cy="548640"/>
          </a:xfrm>
          <a:prstGeom prst="ellipse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094" y="292059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474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CockroachDB (CP)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72600" y="39319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 forte non negoziabile; rifiuta di rispondere piuttosto che sbagliare.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684368" y="1965960"/>
            <a:ext cx="822960" cy="822960"/>
          </a:xfrm>
          <a:prstGeom prst="ellipse">
            <a:avLst/>
          </a:prstGeom>
          <a:solidFill>
            <a:srgbClr val="D9820B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878" y="2163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2993</Words>
  <Application>Microsoft Office PowerPoint</Application>
  <PresentationFormat>Widescreen</PresentationFormat>
  <Paragraphs>382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Architetturale di Basi di Dati</dc:title>
  <dc:subject>PptxGenJS Presentation</dc:subject>
  <dc:creator>Progetto Architettura dei Dati</dc:creator>
  <cp:lastModifiedBy>f.saponara@campus.unimib.it</cp:lastModifiedBy>
  <cp:revision>6</cp:revision>
  <dcterms:created xsi:type="dcterms:W3CDTF">2026-07-05T12:57:28Z</dcterms:created>
  <dcterms:modified xsi:type="dcterms:W3CDTF">2026-07-06T19:32:58Z</dcterms:modified>
</cp:coreProperties>
</file>